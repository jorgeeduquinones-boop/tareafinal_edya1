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  <p:sldId id="274" r:id="rId25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Final EDyA1  •  UAO 2026-1  •  Prof. Orlando Arboleda M., Msc.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[object Object],[object Object]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Pedidos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Comercio Electrónico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77240" y="3520440"/>
            <a:ext cx="13716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Final  •  Estructuras de Datos y Algoritmos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Autónoma de Occidente  •  Cali  •  2026-1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Profesor: Orlando Arboleda Molina, Msc.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sz="1400" b="1">
                <a:solidFill>
                  <a:srgbClr val="FFFFFF"/>
                </a:solidFill>
                <a:latin typeface="Calibri"/>
              </a:rPr>
              <a:t>Joan Mateo Cardona 2243431  •  Danna Villegas 2240027  •  Jorge Eduardo Álvarez 2230610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60350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sz="1100">
                <a:solidFill>
                  <a:srgbClr val="CBD5E1"/>
                </a:solidFill>
                <a:latin typeface="Calibri"/>
              </a:rPr>
              <a:t>Grupo 1  •  Entrega: 17 de mayo de 2026  •  Sustentación: semana 16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la solución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058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El problema y los requisitos del enunciado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Arquitectura modular (estilo Práctica 5/6)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Clases del dominio: Pedido y Cliente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Algoritmo central: QuickSort recursivo propio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Búsqueda binaria recursiva (Práctica 6)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Recursividad auxiliar (Práctica 4)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Análisis de complejidad por función y total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Demostración con casos de prueba</a:t>
            </a:r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Conclusiones y aportes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pide el profesor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
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</a:t>
            </a:r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calcularPedidos(caso)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util.js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recibe un string con </a:t>
            </a:r>
            <a:pPr indent="0" marL="0">
              <a:buNone/>
            </a:pPr>
            <a:r>
              <a:rPr lang="en-US" sz="16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registros de pedidos y devuelve el </a:t>
            </a:r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los n clientes</a:t>
            </a:r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clave:
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72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Array.sort nativo: el ordenamiento debe ser propio (Práctica 5).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Eficiencia comparable a la solución del docente y otros grupos.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complejidad por fragmento y total compuesto.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PDF/Word ≤ 5 páginas obligatorio (sin él, no se evalúa la implementación).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y salida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de la función calcularPedidos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(string)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1168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 records separados por ";"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Cada record: customer product category price quantity timestamp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Mouse Periferico 25000 2 2026-05-10;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Teclado Periferico 80000 1 2026-05-10;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Joan Monitor Pantalla 950000 1 2026-05-10;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Carlos Cable Periferico 5000 4 2026-05-10;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 Mouse Periferico 25000 1 2026-05-10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(string, n líneas)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251960"/>
            <a:ext cx="11064240" cy="1554480"/>
          </a:xfrm>
          <a:prstGeom prst="roundRect">
            <a:avLst>
              <a:gd name="adj" fmla="val 470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38912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1) Joan 1000000 Periferico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2) Ana 105000 Periferico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3) Carlos 20000 Periferico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orden del ranking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decide el puesto de cada cliente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201168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1463040"/>
                <a:gridCol w="64922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totalSpent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 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Mayor gasto = mejor cliente para el negocio.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favoriteCategory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 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Desempate consistente y determinista.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customer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 ↑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 alfabético tradicional como último desempate.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sobre la categoría favorita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42062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favorita de un cliente se define por FRECUENCIA de transacciones. En caso de empate, se elige la lexicográficamente MAYOR, consistente con el criterio 2 del ranking final (favoriteCategory descendente).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modular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estilo que las prácticas del curso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TareaFinal_EDyA1/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68580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index.html                  → UI con módulo 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util.js                     → entry: calcularPedidos()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Scripts/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Pedido.js               → clase Pedido + toString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Cliente.js              → clase Cliente + toString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comparadores.js         → compararStrings + comparador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ordenamientos.js        → particion + quickSort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busqueda.js             → búsqueda binaria recursiva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recursividad.js         → suma/conteo/top recursivos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parser.js               → string → Pedido[]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0" y="1554480"/>
            <a:ext cx="3931920" cy="4572000"/>
          </a:xfrm>
          <a:prstGeom prst="roundRect">
            <a:avLst>
              <a:gd name="adj" fmla="val 2326"/>
            </a:avLst>
          </a:prstGeom>
          <a:solidFill>
            <a:srgbClr val="F4F6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0" y="1691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de clase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955280" y="2194560"/>
            <a:ext cx="3657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4 — Recursividad</a:t>
            </a:r>
            <a:endParaRPr lang="en-US" sz="1400" dirty="0"/>
          </a:p>
          <a:p>
            <a:pPr lvl="1" marL="406400" indent="-203200">
              <a:spcAft>
                <a:spcPts val="600"/>
              </a:spcAft>
              <a:buSzPct val="100000"/>
              <a:buChar char="○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recursividad.js, quickSort, búsqueda binaria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5 — Ordenamiento</a:t>
            </a:r>
            <a:endParaRPr lang="en-US" sz="1400" dirty="0"/>
          </a:p>
          <a:p>
            <a:pPr lvl="1" marL="406400" indent="-203200">
              <a:spcAft>
                <a:spcPts val="600"/>
              </a:spcAft>
              <a:buSzPct val="100000"/>
              <a:buChar char="○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ordenamientos.js, Pedido, Cliente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6 — Búsqueda</a:t>
            </a:r>
            <a:endParaRPr lang="en-US" sz="1400" dirty="0"/>
          </a:p>
          <a:p>
            <a:pPr lvl="1" marL="406400" indent="-203200">
              <a:spcAft>
                <a:spcPts val="600"/>
              </a:spcAft>
              <a:buSzPct val="100000"/>
              <a:buChar char="○"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busqueda.js (binaria recursiva)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Pedido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Estilo Vehiculo / Soat de la Práctica 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4572000"/>
          </a:xfrm>
          <a:prstGeom prst="roundRect">
            <a:avLst>
              <a:gd name="adj" fmla="val 16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106984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Pedido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constructor(customer, product, category, price, quantity, timestamp)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this.customer  = customer;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this.product   = product;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this.category  = category;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this.price     = price;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this.quantity  = quantity;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this.timestamp = timestamp;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subtotal()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this.price * this.quantity;   // O(1)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toString()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this.customer + " " + this.product + " " + ... 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en el constructor + método de cálculo + toString(): exactamente el patrón que el profesor mostró con Vehiculo y Soat.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Cliente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Agregación de pedidos por cliente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4846320"/>
          </a:xfrm>
          <a:prstGeom prst="roundRect">
            <a:avLst>
              <a:gd name="adj" fmla="val 150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class Cliente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constructor(name)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this.name              = name;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this.totalSpent        = 0;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this.categorias        = Object.create(null);  // hash O(1)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this.favoriteCategory  = "";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registrarPedido(pedido) {                  // O(1) amortizado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this.totalSpent += pedido.subtotal();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this.categorias[pedido.category] = (this.categorias[pedido.category]||0) + 1;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calcularCategoriaFavorita() {              // O(p)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let mejor = "", max = -1;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(const cat in this.categorias)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const f = this.categorias[cat];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(f &gt; max || (f === max &amp;&amp; compararStrings(cat, mejor) &gt; 0))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mejor = cat; max = f;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this.favoriteCategory = mejor;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QuickSort recursivo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particion_por_Nombre + quickSort_por_Nombre (Práctica 5)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Esqueleto enseñado en clase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51206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particion_por_Nombre(A, p, r)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let x = A[r];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let i = p - 1;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(let j = p; j &lt;= r-1; j++)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(A[j] &lt; x)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 = i + 1;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// intercambio A[i] ↔ A[j]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intercambio A[i+1] ↔ A[r]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 + 1;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quickSort_por_Nombre(A, p, r)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(p &lt; r)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let q = particion_por_Nombre(A, p, r);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quickSort_por_Nombre(A, p, q-1);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quickSort_por_Nombre(A, q+1, r);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implementación generalizada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920240"/>
            <a:ext cx="512064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particion(A, p, r, cmp)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medianaDeTres(A, p, r, cmp);   // ← mejora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x = A[r];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let i = p - 1;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let aux;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(let j = p; j &lt;= r-1; j++)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(cmp(A[j], x) &lt; 0)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 = i + 1;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aux = A[i]; A[i] = A[j]; A[j] = aux;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aux = A[i+1]; A[i+1] = A[r]; A[r] = aux;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i + 1;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quickSort(A, p, r, cmp)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(p &lt; r)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(r-p &lt; 16) { insertionSort(...); return;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const q = particion(A, p, r, cmp);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recursa sobre la mitad menor (pila O(log n))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Mejoras profesionales sobre lo de clase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nuestro QuickSort es robusto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9164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6002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tres como pivote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01168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 la mediana entre A[p], A[medio] y A[r]. Evita el peor caso O(n²) sobre arreglos ya ordenados o casi ordenados (situación común al re-ordenar rankings o datos parcialmente procesados).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33756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37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2461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 en particiones pequeñas (&lt; 16)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 Sort tiene constante muy baja y supera a QuickSort en arreglos pequeños. Es la misma técnica que usan Java Dual-Pivot Quicksort, V8 (TimSort), libstdc++ y .NET Array.Sort.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4F6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983480"/>
            <a:ext cx="640080" cy="6400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54480" y="489204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Recursión optimizada en cola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5303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particionar, se recursa SOLO sobre la mitad MENOR y se itera sobre la mayor. Garantiza profundidad de pila O(log n) incluso en el peor caso, evitando stack overflow en arreglos grandes.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binaria recursiva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estructura que busquedaBinaria_por_placa (Práctica 6)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2743200"/>
          </a:xfrm>
          <a:prstGeom prst="roundRect">
            <a:avLst>
              <a:gd name="adj" fmla="val 266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busquedaBinariaPorNombre(A, p, q, name)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(p &gt; q) return -1;                          // caso base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m = (p + q) &gt;&gt;&gt; 1;                       // división entera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c = compararStrings(A[m].name, name);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 === 0)  return m;                        // encontrado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 &gt; 0)    return busquedaBinariaPorNombre(A, p, m - 1, name);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busquedaBinariaPorNombre(A, m + 1, q, name);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4F6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5029200"/>
            <a:ext cx="10789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calcular el ranking, permite consultar en O(log n) la posición de un cliente específico sin recorrer toda la lista. Por ejemplo, responder “¿en qué puesto quedó CLIENTE_X?” sobre el ranking, sin re-ejecutar el algoritmo completo.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Recursividad auxiliar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calculaSuma (Práctica 4) aplicado al dominio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64240" cy="4754880"/>
          </a:xfrm>
          <a:prstGeom prst="roundRect">
            <a:avLst>
              <a:gd name="adj" fmla="val 153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00200"/>
            <a:ext cx="1069848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Suma total recursiva (verificación de invariante)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sumaTotalRecursiva(A, i)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&gt; A.length - 1) return 0;                // caso base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A[i].totalSpent + sumaTotalRecursiva(A, i + 1);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Conteo recursivo de clientes premium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contarClientesPremium(A, i, umbral)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&gt; A.length - 1) return 0;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e = A[i].totalSpent &gt;= umbral ? 1 : 0;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e + contarClientesPremium(A, i + 1, umbral);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Top 1 recursivo (sin necesidad de ordenar)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topClienteRecursivo(A, i, mejor)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&gt; A.length - 1) return mejor;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(mejor === null || A[i].totalSpent &gt; mejor.totalSpent)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topClienteRecursivo(A, i + 1, A[i]);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topClienteRecursivo(A, i + 1, mejor);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por función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Notación: m=#records, n=#clientes, p=#categorías, k=long. campo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4206240"/>
        </p:xfrm>
        <a:graphic>
          <a:graphicData uri="http://schemas.openxmlformats.org/drawingml/2006/table">
            <a:tbl>
              <a:tblPr/>
              <a:tblGrid>
                <a:gridCol w="2286000"/>
                <a:gridCol w="4114800"/>
                <a:gridCol w="265176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Espacio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parsearCaso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O(m · k)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O(m)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Acumulación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Cliente.registrarPedido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O(m)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favorita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Cliente.calcularCategoriaFavorita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· p)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Ordenamiento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quickSort + partición (mediana 3)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log n) promedio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Formateo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concatenación de salida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· k)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O(n · k)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4B55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(auxiliar)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4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busquedaBinariaPorNombre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556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O(log n)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total compuesta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etapas en función del tamaño del problema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71600" y="2011680"/>
            <a:ext cx="9418320" cy="1280160"/>
          </a:xfrm>
          <a:prstGeom prst="roundRect">
            <a:avLst>
              <a:gd name="adj" fmla="val 107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01168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T(m, n, p) = O(m · k)  +  O(m)  +  O(n · p)  +  O(n log n)  +  O(n · k)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371600" y="3474720"/>
            <a:ext cx="9418320" cy="1280160"/>
          </a:xfrm>
          <a:prstGeom prst="roundRect">
            <a:avLst>
              <a:gd name="adj" fmla="val 10714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474720"/>
            <a:ext cx="9418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O(m + n · p + n log n)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término dominante depende del caso: con muchos records y pocos clientes domina O(m); con muchos clientes y pocas categorías domina O(n log n).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con casos de prueba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Ejecuciones reales sobre la implementación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 — Tres clientes, varios productos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Joan Mouse Periferico 25000 2 ...;  Ana Teclado Periferico 80000 1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Joan Monitor Pantalla 950000 1 ...; Carlos Cable Periferico 5000 4 ...;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Ana Mouse Periferico 25000 1 ...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Salida: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1) Joan 1000000 Periferico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2) Ana 105000 Periferico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3) Carlos 20000 Periferico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49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 — Empate triple en totalSpent y categoría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2062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Entrada: A x C 10 1 t; B y C 10 1 t; C z C 10 1 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Salida : 1) A 10 C   2) B 10 C   3) C 10 C   (desempate por nombre ASC)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50749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 — Categoría favorita por frecuencia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3949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55321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Entrada: X p Tech 100 5 t; X q Books 50 1 t; X r Tech 200 1 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Salida : 1) X 750 Tech   (Tech aparece 2 veces vs Books 1)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con las prácticas del curso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 → lo que entregamos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3657600"/>
        </p:xfrm>
        <a:graphic>
          <a:graphicData uri="http://schemas.openxmlformats.org/drawingml/2006/table">
            <a:tbl>
              <a:tblPr/>
              <a:tblGrid>
                <a:gridCol w="2011680"/>
                <a:gridCol w="4114800"/>
                <a:gridCol w="5120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enseñado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Aplicación en la tarea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 Recursividad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calculaSuma(A, i), factorialRecursivo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sumaTotalRecursiva, contarClientesPremium, topClienteRecursivo, quickSort y búsqueda binaria recursivos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 Ordenamiento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particion_por_Nombre, quickSort_por_Nombre, clases Vehiculo/Soat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particion(A,p,r,cmp), quickSort(A,p,r,cmp); clases Pedido y Cliente con toString()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 Búsqueda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busquedaBinaria_por_placa(A,p,q,r)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busquedaBinariaPorNombre(A,p,q,name) con la misma firma y estructura recursiva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73152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24128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Aportes y aprendizajes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cumplió 100% el contrato del enunciado: función calcularPedidos(caso) con la firma exigida y formato de salida exacto.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Ordenamiento propio (QuickSort) basado en el esquema de clase, SIN usar Array.sort nativo.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mejoras profesionales (mediana de 3, insertion fallback, recursión optimizada) que llevan el peor caso de O(n²) a O(n log n) garantizado en profundidad de pila.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modular con clases (Pedido, Cliente) y separación por responsabilidad, manteniendo el estilo de las prácticas.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complejidad detallado por función + total compuesto O(m + n·p + n log n).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recursivas auxiliares y búsqueda binaria como extensiones documentadas, no como código muerto.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6172200"/>
            <a:ext cx="11064240" cy="2743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263640"/>
            <a:ext cx="11064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F172A"/>
                </a:solidFill>
                <a:latin typeface="Calibri"/>
              </a:rPr>
              <a:t>Aplicativo web entregado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75569"/>
                </a:solidFill>
                <a:latin typeface="Calibri"/>
              </a:rPr>
              <a:t>PWA con cinco paneles + integración continua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Resultados: ranking, métricas y gráficos del ejecutado.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Cargar caso: pegado, CSV, generador sintético (m, n, p, seed) y casos del profesor.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Benchmark: MergeSort, QuickSort 3-way, RadixSort, Insertion y Array.sort sobre el mismo dataset.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Pruebas: suite automatizada de 11 tests (Node + navegador).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Documentación: complejidad, decisiones de diseño y trazabilidad de prácticas.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CI con GitHub Actions ejecuta los tests antes de cada despliegue.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563EB"/>
                </a:solidFill>
                <a:latin typeface="Calibri"/>
              </a:rPr>
              <a:t>Demo en vivo: https://tarea-final-e-dy-a1.vercel.app/app/index.html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0F172A"/>
                </a:solidFill>
                <a:latin typeface="Calibri"/>
              </a:rPr>
              <a:t>Soporte al formato del profesor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475569"/>
                </a:solidFill>
                <a:latin typeface="Calibri"/>
              </a:rPr>
              <a:t>Casos publicados en data_2026_1/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Formato extendido: 'Cat1,Cat2,…,CatN--customer product category price quantity timestamp;…'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El parser detecta automáticamente comillas externas, separador '--' y lista de categorías.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calcularPedidos sigue con la firma original: la normalización ocurre antes del scan.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Caso 0 — 20 clientes · 7 categorías · 182 records.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Caso 1 — 50 clientes · 20 categorías · 1 000 records.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Caso 2 — 100 clientes · 30 categorías · 5 000 records.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0F172A"/>
                </a:solidFill>
                <a:latin typeface="Calibri"/>
              </a:rPr>
              <a:t>• Tiempos medidos: 1 a 5 ms en ambas implementaciones (QuickSort y MergeSort).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475569"/>
                </a:solidFill>
                <a:latin typeface="Calibri"/>
              </a:rPr>
              <a:t>Test 11 verifica que un caso con y sin prefijo de categorías produce el mismo ranking.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Universidad Autónoma de Occidente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Tarea Final EDyA1 - Análisis de Pedidos en Comercio Electrónico</dc:title>
  <dc:subject>EDyA1 - 2026-1</dc:subject>
  <dc:creator>Joan Mateo Cardona</dc:creator>
  <cp:lastModifiedBy>Joan Mateo Cardona</cp:lastModifiedBy>
  <cp:revision>1</cp:revision>
  <dcterms:created xsi:type="dcterms:W3CDTF">2026-05-11T05:04:42Z</dcterms:created>
  <dcterms:modified xsi:type="dcterms:W3CDTF">2026-05-11T05:04:42Z</dcterms:modified>
</cp:coreProperties>
</file>