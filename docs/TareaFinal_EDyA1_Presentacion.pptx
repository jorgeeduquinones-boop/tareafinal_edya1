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502920"/>
            <a:ext cx="201168" cy="20116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" y="502920"/>
            <a:ext cx="201168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AUTÓNOMA DE OCCIDENTE  ·  CALI  ·  2026-1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Pedidos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Comercio Electrónico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Ordenamiento propio, búsqueda binaria recursiva y análisis de complejidad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5486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8862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1   ·   INTEGRANTES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Mateo Cardona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Danna Villegas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Eduardo Álvarez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3886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9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Orlando Arboleda Molina, MSc.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47777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de mayo de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veremos hoy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828800"/>
            <a:ext cx="45720" cy="8686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234440" y="1920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requisitos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26771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del enunciado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1828800"/>
            <a:ext cx="45720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8288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023360" y="1920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modular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23360" y="226771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 Práctica 5 y 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1828800"/>
            <a:ext cx="45720" cy="8686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8288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812280" y="1920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del problema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12280" y="226771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Pedido y Cliente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788920"/>
            <a:ext cx="45720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27889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23444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QuickSort propio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34440" y="322783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sobre lo de clase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46120" y="2788920"/>
            <a:ext cx="45720" cy="8686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7889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402336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binaria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023360" y="322783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recursiva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35040" y="2788920"/>
            <a:ext cx="45720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7889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81228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Recursividad auxiliar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12280" y="322783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calculaSuma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749040"/>
            <a:ext cx="45720" cy="8686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37490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1234440" y="3840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234440" y="418795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función y total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46120" y="3749040"/>
            <a:ext cx="45720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0" y="37490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4023360" y="3840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023360" y="418795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real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035040" y="3749040"/>
            <a:ext cx="45720" cy="8686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37490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6812280" y="3840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812280" y="418795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y aportes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ENUNCIADO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a resolver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828800"/>
            <a:ext cx="4023360" cy="2743200"/>
          </a:xfrm>
          <a:prstGeom prst="rect">
            <a:avLst/>
          </a:prstGeom>
          <a:solidFill>
            <a:srgbClr val="0F2138"/>
          </a:solidFill>
          <a:ln w="12700">
            <a:solidFill>
              <a:srgbClr val="0F21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2860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calcularPedidos(caso)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util.js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recibe un string con </a:t>
            </a:r>
            <a:pPr indent="0" marL="0">
              <a:spcAft>
                <a:spcPts val="400"/>
              </a:spcAft>
              <a:buNone/>
            </a:pPr>
            <a:r>
              <a:rPr lang="en-US" sz="1400" b="1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registros de pedidos y devuelve el ranking de los </a:t>
            </a:r>
            <a:pPr indent="0" marL="0">
              <a:spcAft>
                <a:spcPts val="400"/>
              </a:spcAft>
              <a:buNone/>
            </a:pPr>
            <a:r>
              <a:rPr lang="en-US" sz="1400" b="1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clientes.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5544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CLAVE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828800"/>
            <a:ext cx="3931920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1828800"/>
            <a:ext cx="45720" cy="6400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19019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Array.sort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5080" y="19019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Ordenamiento propio (Práctica 5).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2532888"/>
            <a:ext cx="3931920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2532888"/>
            <a:ext cx="45720" cy="6400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2606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55080" y="26060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a docente y demás grupos.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3236976"/>
            <a:ext cx="3931920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3236976"/>
            <a:ext cx="45720" cy="6400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331012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55080" y="331012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por función y total compuesto.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941064"/>
            <a:ext cx="3931920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3941064"/>
            <a:ext cx="45720" cy="6400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401421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55080" y="4014216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PDF/Word ≤ 5 páginas. Sin él, no se evalúa.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I/O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y salida de calcularPedidos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string </a:t>
            </a:r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 records separados por  ;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114800" cy="260604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03120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formato por record: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customer product category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price quantity timestamp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Joan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Mouse Periferico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25000 2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Teclado Periferico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80000 1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Joan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Monitor Pantalla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950000 1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Carlos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Cable Periferico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5000 4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 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Mouse Periferico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25000 1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34840" y="30175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string </a:t>
            </a:r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 líneas ranking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0" y="1993392"/>
            <a:ext cx="3840480" cy="260604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10312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formato: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posicion) cliente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total categoriaFavorita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1) 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Joan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1000000 </a:t>
            </a:r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Periferico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2) 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105000 </a:t>
            </a:r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Periferico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3) 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Carlos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20000 </a:t>
            </a:r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Periferico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DEL RANKING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orden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103120"/>
                <a:gridCol w="1463040"/>
                <a:gridCol w="4114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FFFFFF"/>
                          </a:solidFill>
                        </a:rPr>
                        <a:t>CAMPO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FFFFFF"/>
                          </a:solidFill>
                        </a:rPr>
                        <a:t>DIRECCIÓN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FFFFFF"/>
                          </a:solidFill>
                        </a:rPr>
                        <a:t>JUSTIFICACIÓN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totalSpent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 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Mayor gasto = cliente más valioso.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favoriteCategory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 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 desempate consistente y determinista.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 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 alfabético como último desempate.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3931920"/>
            <a:ext cx="45720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97764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 favorita  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define por FRECUENCIA de transacciones. En empate, se elige la lexicográficamente MAYOR — consistente con el criterio 2 del ranking.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ARQUITECTURA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PROYECTO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modular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737360"/>
            <a:ext cx="4846320" cy="292608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TareaFinal_EDyA1/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0312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// UI con módulo 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util.js</a:t>
            </a:r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// entry: calcularPedidos()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</a:t>
            </a:r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Pedido.js</a:t>
            </a:r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// clase + toString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Cliente.js</a:t>
            </a:r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// agregación por cliente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comparadores.js</a:t>
            </a:r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// compararStrings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ordenamientos.js</a:t>
            </a:r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// particion + quickSort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busqueda.js</a:t>
            </a:r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// binaria recursiva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recursividad.js</a:t>
            </a:r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// suma, conteo, top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parser.js</a:t>
            </a:r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// string → Pedido[]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A PRÁCTICAS DEL CURSO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0" y="2011680"/>
            <a:ext cx="3200400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23560" y="2176272"/>
            <a:ext cx="502920" cy="502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23560" y="2176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63640" y="21214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Recursividad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23957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recursividad.js, quickSort, búsqueda binaria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0" y="2880360"/>
            <a:ext cx="3200400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23560" y="3044952"/>
            <a:ext cx="50292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2356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263640" y="299008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Ordenamiento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63640" y="32644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ordenamientos.js, Pedido, Cliente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0" y="3749040"/>
            <a:ext cx="3200400" cy="8229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23560" y="3913632"/>
            <a:ext cx="502920" cy="502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2356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26364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63640" y="413308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busqueda.js (binaria recursiva)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DOMINIO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Pedido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91640"/>
            <a:ext cx="5486400" cy="301752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83080"/>
            <a:ext cx="52120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class </a:t>
            </a:r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constructor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(customer, product, category,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price, quantity, timestamp)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  = customer;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  = product;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  = category;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    = price;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quantity  = quantity;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 = timestamp;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subtotal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O(1)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this.price * this.quantity;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toString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customer + product + ... */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APLICADO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2011680"/>
            <a:ext cx="45720" cy="777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201168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63640" y="228600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básicos asignados directamente.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2880360"/>
            <a:ext cx="45720" cy="777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288036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cálculo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63640" y="3154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subtotal() en O(1).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3749040"/>
            <a:ext cx="45720" cy="777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374904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toString()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40233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patrón que Vehiculo/Soat.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DOMINIO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AGREGACIÓN POR CLIENTE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Cliente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73352"/>
            <a:ext cx="8229600" cy="310896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37360"/>
            <a:ext cx="7863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class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constructor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(name)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name;  this.totalSpent =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categorias =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Object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.create(</a:t>
            </a:r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hash O(1)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favoriteCategory = </a:t>
            </a:r>
            <a:pPr indent="0" marL="0">
              <a:buNone/>
            </a:pPr>
            <a:r>
              <a:rPr lang="en-US" sz="8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registrarPedido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(pedido) {                       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O(1) amortizado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this.totalSpent += pedido.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subtotal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 = pedido.category;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this.categorias[c] = (this.categorias[c] ||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+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calcularCategoriaFavorita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                  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O(p)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let mejor = </a:t>
            </a:r>
            <a:pPr indent="0" marL="0">
              <a:buNone/>
            </a:pPr>
            <a:r>
              <a:rPr lang="en-US" sz="8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max =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(const cat 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this.categorias)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f = this.categorias[cat];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(f &gt; max || (f === max &amp;&amp;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compararStrings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(cat, mejor) &gt;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mejor = cat; max = f;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this.favoriteCategory = mejor;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ALGORITMO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CENTRAL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QuickSort recursivo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916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CLASE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40233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057400"/>
            <a:ext cx="37490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pPr indent="0" marL="0">
              <a:buNone/>
            </a:pPr>
            <a:r>
              <a:rPr lang="en-US" sz="950" dirty="0">
                <a:solidFill>
                  <a:srgbClr val="0F2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particion_por_Nombre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p, r)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x = A[r];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i = p - 1;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(let j = p; j &lt;= r-1; j++)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(A[j] &lt; x)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 = i + 1;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// intercambio A[i] ↔ A[j]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intercambio A[i+1] ↔ A[r]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i + 1;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34840" y="30175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IMPLEMENTACIÓN GENERALIZADA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0" y="1965960"/>
            <a:ext cx="3840480" cy="274320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2029968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particion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p, r,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medianaDeTres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p, r, cmp);  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mejora 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x = A[r];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i = p -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aux;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(let j = p; j &lt;= r-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j++)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(A[j], x) &lt;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i++;  aux=A[i]; A[i]=A[j]; A[j]=aux;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aux=A[i+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 A[i+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]=A[r]; A[r]=aux;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i +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quickSort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p, r, cmp)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while (p &lt; r)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(r-p &lt;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insertionSort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(...); return;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q =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particion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p, r, cmp);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recursa sobre mitad menor → O(log n)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ALGORITMO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NUESTRO QUICKSORT ES ROBUSTO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sobre el esquema de clase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91640"/>
            <a:ext cx="8229600" cy="9601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892808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18288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tres como pivote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21488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 la mediana entre A[p], A[medio] y A[r]. Evita el peor caso O(n²) sobre arreglos ordenados o casi ordenados — situación frecuente al re-ordenar rankings o datos parcialmente procesados.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8229600" cy="9601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944368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44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28803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Sort en particiones pequeñas (n &lt; 16)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2004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Sort tiene constante muy baja y supera a QuickSort en arreglos pequeños. Es la misma técnica usada por Dual-Pivot Quicksort (Java), V8 (TimSort), libstdc++ y .NET Array.Sort.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794760"/>
            <a:ext cx="8229600" cy="9601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995928"/>
            <a:ext cx="548640" cy="5486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995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39319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Recursión optimizada en cola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71600" y="42519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particionar, recursa SOLO sobre la mitad menor e itera la mayor. Garantiza profundidad de pila O(log n) incluso en el peor caso, evitando stack overflow en arreglos grandes.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BÚSQUEDA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ESTRUCTURA QUE P6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binaria recursiva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91640"/>
            <a:ext cx="8229600" cy="182880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8308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</a:t>
            </a:r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busquedaBinariaPorNombre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p, q, name)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(p &gt; q) return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                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caso base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m = (p + q) &gt;&gt;&gt;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                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división entera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 = </a:t>
            </a:r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compararStrings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(A[m].name, name);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(c ===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return m;                     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encontrado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(c &gt;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  return </a:t>
            </a:r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busquedaBinariaPorNombre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p, m-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name);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</a:t>
            </a:r>
            <a:pPr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busquedaBinariaPorNombre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m+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q, name);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657600"/>
            <a:ext cx="45720" cy="1051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</a:t>
            </a:r>
            <a:endParaRPr lang="en-US" sz="9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la posición de un cliente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calcular el ranking, </a:t>
            </a:r>
            <a:pPr indent="0" marL="0">
              <a:buNone/>
            </a:pPr>
            <a:r>
              <a:rPr lang="en-US" sz="11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"¿en qué puesto quedó X?" en O(log n)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sin recorrer toda la lista ni re-ejecutar el algoritmo completo.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RECURSIVIDAD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CALCULASUMA APLICADO AL DOMINIO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recursivas auxiliares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91640"/>
            <a:ext cx="2697480" cy="3200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916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TOTAL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26974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0116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el invariante de gasto agregado.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2697480" cy="214884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587752"/>
            <a:ext cx="2514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sumaTotalRecursiva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i)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 &gt; A.length -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return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A[i].totalSpent +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sumaTotalRecursiva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i+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23260" y="1691640"/>
            <a:ext cx="269748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4700" y="16916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 PREMIUM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3260" y="2011680"/>
            <a:ext cx="26974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4700" y="20116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clientes que superan un umbral.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23260" y="2514600"/>
            <a:ext cx="2697480" cy="214884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2988" y="2587752"/>
            <a:ext cx="2514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contarClientesPremium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i, umbral)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 &gt; A.length -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return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e = A[i].totalSpent &gt;= umbral ?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: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e +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contarClientesPremium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i+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umbral);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89320" y="1691640"/>
            <a:ext cx="2697480" cy="3200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6916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CLIENTE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89320" y="2011680"/>
            <a:ext cx="269748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80760" y="20116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cliente sin necesidad de ordenar.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89320" y="2514600"/>
            <a:ext cx="2697480" cy="214884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587752"/>
            <a:ext cx="2514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topClienteRecursivo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i, mejor)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 &gt; A.length - 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return mejor;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m = (mejor === </a:t>
            </a:r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||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A[i].totalSpent &gt; mejor.totalSpent) ? A[i] : mejor;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</a:t>
            </a:r>
            <a:pPr indent="0" marL="0">
              <a:buNone/>
            </a:pPr>
            <a:r>
              <a:rPr lang="en-US" sz="8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topClienteRecursivo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i+</a:t>
            </a:r>
            <a:pPr indent="0" marL="0">
              <a:buNone/>
            </a:pPr>
            <a:r>
              <a:rPr lang="en-US" sz="8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m);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COMPLEJIDAD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POR ETAPA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por función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  </a:t>
            </a:r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#records   </a:t>
            </a:r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#clientes   </a:t>
            </a:r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#categorías   </a:t>
            </a:r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long. campo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182880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FFFFFF"/>
                          </a:solidFill>
                        </a:rPr>
                        <a:t>ETAPA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FFFFFF"/>
                          </a:solidFill>
                        </a:rPr>
                        <a:t>FUNCIÓN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FFFFFF"/>
                          </a:solidFill>
                        </a:rPr>
                        <a:t>TIEMPO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FFFFFF"/>
                          </a:solidFill>
                        </a:rPr>
                        <a:t>ESPACIO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parsearCaso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O(m · k)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O(m)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Acumulación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Cliente.registrarPedido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O(m)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 favorita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Cliente.calcularCategoriaFavorita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 · p)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Ordenamiento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quickSort + partición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 log n) prom.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O(log 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concatenación de salida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 · k)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 · k)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(aux.)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busquedaBinariaPorNombre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O(log 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O(log 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44348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 DOMINANTE 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ordenamiento y el parseo son los costos a vigilar conforme crecen m y n.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COMPLEJIDAD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DE ETAPAS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total compuesta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828800"/>
            <a:ext cx="8229600" cy="141732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T(m, n, p)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 O(m·k) + O(m) + O(n·p) + O(n log n) + O(n·k)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simplificación quedándose con el término dominante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383280"/>
            <a:ext cx="8229600" cy="777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8328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691640" y="338328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 O( m  +  n·p  +  n log n )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57200" y="4297680"/>
            <a:ext cx="402336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297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records, pocos clientes 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domina </a:t>
            </a:r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O(m)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4297680"/>
            <a:ext cx="402336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4297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clientes, pocas categorías 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domina 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log n)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DEMOSTRACIÓN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EJECUCIONES REALES SOBRE LA IMPLEMENTACIÓN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91640"/>
            <a:ext cx="868680" cy="960120"/>
          </a:xfrm>
          <a:prstGeom prst="rect">
            <a:avLst/>
          </a:prstGeom>
          <a:solidFill>
            <a:srgbClr val="0F2138"/>
          </a:solidFill>
          <a:ln w="12700">
            <a:solidFill>
              <a:srgbClr val="0F21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78308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clientes, varios productos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325880" y="1691640"/>
            <a:ext cx="4160520" cy="96012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175564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›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417320" y="194767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Joan Mouse Periferico 25000 2 ...;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 Teclado Periferico 80000 1 ...;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Joan Monitor Pantalla 950000 1 ...;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Carlos Cable Periferico 5000 4 ...;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 Mouse Periferico 25000 1 ...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0" y="1691640"/>
            <a:ext cx="3657600" cy="960120"/>
          </a:xfrm>
          <a:prstGeom prst="rect">
            <a:avLst/>
          </a:prstGeom>
          <a:solidFill>
            <a:srgbClr val="F0FD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77840" y="17556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›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77840" y="194767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2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1) Joan 1000000 Periferico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F2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2) Ana 105000 Periferico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F2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3) Carlos 20000 Periferico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724912"/>
            <a:ext cx="868680" cy="960120"/>
          </a:xfrm>
          <a:prstGeom prst="rect">
            <a:avLst/>
          </a:prstGeom>
          <a:solidFill>
            <a:srgbClr val="1A2F4A"/>
          </a:solidFill>
          <a:ln w="12700">
            <a:solidFill>
              <a:srgbClr val="0F21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81635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3044952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Empate triple en totalSpent y categoría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325880" y="2724912"/>
            <a:ext cx="4160520" cy="96012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17320" y="27889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›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417320" y="298094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x C 10 1 t;  B y C 10 1 t;  C z C 10 1 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486400" y="2724912"/>
            <a:ext cx="3657600" cy="960120"/>
          </a:xfrm>
          <a:prstGeom prst="rect">
            <a:avLst/>
          </a:prstGeom>
          <a:solidFill>
            <a:srgbClr val="F0FD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77840" y="27889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›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577840" y="298094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2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1) A 10 C    2) B 10 C    3) C 10 C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desempate por nombre ASC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758184"/>
            <a:ext cx="868680" cy="960120"/>
          </a:xfrm>
          <a:prstGeom prst="rect">
            <a:avLst/>
          </a:prstGeom>
          <a:solidFill>
            <a:srgbClr val="0F2138"/>
          </a:solidFill>
          <a:ln w="12700">
            <a:solidFill>
              <a:srgbClr val="0F21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8496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4078224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 favorita por frecuencia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325880" y="3758184"/>
            <a:ext cx="4160520" cy="960120"/>
          </a:xfrm>
          <a:prstGeom prst="rect">
            <a:avLst/>
          </a:prstGeom>
          <a:solidFill>
            <a:srgbClr val="0B1426"/>
          </a:solidFill>
          <a:ln w="12700">
            <a:solidFill>
              <a:srgbClr val="0814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17320" y="38221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›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417320" y="401421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p Tech 100 5 t;  X q Books 50 1 t;  X r Tech 200 1 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486400" y="3758184"/>
            <a:ext cx="3657600" cy="960120"/>
          </a:xfrm>
          <a:prstGeom prst="rect">
            <a:avLst/>
          </a:prstGeom>
          <a:solidFill>
            <a:srgbClr val="F0FD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38221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›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401421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2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1) X 750 Tech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Tech aparece 2 veces vs Books 1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292608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0" y="256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CIERRE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EDyA1 · Tarea Final · Grupo 1 · UAO 2026-1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8234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APRENDIDO → LO ENTREGADO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con las prácticas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  <a:gridCol w="4114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FFFFFF"/>
                          </a:solidFill>
                        </a:rPr>
                        <a:t>PRÁCTICA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FFFFFF"/>
                          </a:solidFill>
                        </a:rPr>
                        <a:t>CONCEPTO ENSEÑADO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FFFFFF"/>
                          </a:solidFill>
                        </a:rPr>
                        <a:t>APLICACIÓN EN LA TAREA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3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1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1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Recursividad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calculaSuma(A, i)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factorialRecursivo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sumaTotalRecursiva, contarClientesPremium, topClienteRecursivo. QuickSort y búsqueda binaria también recursivos.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1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1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Ordenamiento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particion_por_Nombre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quickSort_por_Nombre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clases Vehiculo / Soat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particion(A, p, r, cmp), quickSort(A, p, r, cmp). Clases Pedido y Cliente con toString().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1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1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busquedaBinaria_por_placa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21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(A, p, q, r)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busquedaBinariaPorNombre(A, p, q, name) — misma firma y estructura recursiva.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20040"/>
            <a:ext cx="164592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320040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0" y="2743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APORTES Y APRENDIZAJES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57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920240"/>
            <a:ext cx="2697480" cy="1417320"/>
          </a:xfrm>
          <a:prstGeom prst="rect">
            <a:avLst/>
          </a:prstGeom>
          <a:solidFill>
            <a:srgbClr val="1A2F4A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45720" cy="14173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0574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cumplido. Firma y formato de salida exactos.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1920240"/>
            <a:ext cx="2697480" cy="1417320"/>
          </a:xfrm>
          <a:prstGeom prst="rect">
            <a:avLst/>
          </a:prstGeom>
          <a:solidFill>
            <a:srgbClr val="1A2F4A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920240"/>
            <a:ext cx="45720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20574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42900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a Array.sort. QuickSort propio sobre el esquema de clase.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2697480" cy="1417320"/>
          </a:xfrm>
          <a:prstGeom prst="rect">
            <a:avLst/>
          </a:prstGeom>
          <a:solidFill>
            <a:srgbClr val="1A2F4A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0" y="1920240"/>
            <a:ext cx="45720" cy="14173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20574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21792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profesionales: mediana 3, insertion fallback, recursión optimizada.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429000"/>
            <a:ext cx="2697480" cy="1417320"/>
          </a:xfrm>
          <a:prstGeom prst="rect">
            <a:avLst/>
          </a:prstGeom>
          <a:solidFill>
            <a:srgbClr val="1A2F4A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429000"/>
            <a:ext cx="45720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5661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O(log n)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40080" y="41605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 de pila garantizada. Sin riesgo de stack overflow.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46120" y="3429000"/>
            <a:ext cx="2697480" cy="1417320"/>
          </a:xfrm>
          <a:prstGeom prst="rect">
            <a:avLst/>
          </a:prstGeom>
          <a:solidFill>
            <a:srgbClr val="1A2F4A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3429000"/>
            <a:ext cx="45720" cy="14173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9000" y="35661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3429000" y="41605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de dominio modulares: Pedido y Cliente, con responsabilidades claras.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35040" y="3429000"/>
            <a:ext cx="2697480" cy="1417320"/>
          </a:xfrm>
          <a:prstGeom prst="rect">
            <a:avLst/>
          </a:prstGeom>
          <a:solidFill>
            <a:srgbClr val="1A2F4A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3429000"/>
            <a:ext cx="45720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0" y="35661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6217920" y="41605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complejidad detallado por función y total compuesto.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de Pedidos en Comercio Electrónico</dc:title>
  <dc:subject>PptxGenJS Presentation</dc:subject>
  <dc:creator>Grupo 1 · Joan Mateo Cardona, Danna Villegas, Jorge Eduardo Álvarez</dc:creator>
  <cp:lastModifiedBy>Grupo 1 · Joan Mateo Cardona, Danna Villegas, Jorge Eduardo Álvarez</cp:lastModifiedBy>
  <cp:revision>1</cp:revision>
  <dcterms:created xsi:type="dcterms:W3CDTF">2026-05-18T03:41:00Z</dcterms:created>
  <dcterms:modified xsi:type="dcterms:W3CDTF">2026-05-18T03:41:00Z</dcterms:modified>
</cp:coreProperties>
</file>